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arlow"/>
      <p:regular r:id="rId201314"/>
    </p:embeddedFont>
    <p:embeddedFont>
      <p:font typeface="Barlow Medium"/>
      <p:regular r:id="rId201315"/>
    </p:embeddedFont>
    <p:embeddedFont>
      <p:font typeface="Barlow Bold"/>
      <p:regular r:id="rId201316"/>
    </p:embeddedFont>
    <p:embeddedFont>
      <p:font typeface="Fragment Mono"/>
      <p:regular r:id="rId201317"/>
    </p:embeddedFont>
    <p:embeddedFont>
      <p:font typeface="Saira Semi Condensed Extra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E0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8258"/>
            <a:ext cx="7670608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C7D14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MARKETING DATA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48605"/>
            <a:ext cx="721342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20" kern="100" dirty="0">
                <a:solidFill>
                  <a:srgbClr val="F8ED43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Project overview and</a:t>
            </a:r>
            <a:endParaRPr lang="en-US" sz="40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000" spc="-20" kern="100" dirty="0">
                <a:solidFill>
                  <a:srgbClr val="F8ED43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the business problem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189" y="2031687"/>
            <a:ext cx="3378115" cy="696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5600" spc="-112" kern="100" dirty="0">
                <a:solidFill>
                  <a:srgbClr val="F8ED43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2,240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189" y="2852837"/>
            <a:ext cx="36067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customer records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92493" y="2031687"/>
            <a:ext cx="3378115" cy="696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5600" spc="-112" kern="100" dirty="0">
                <a:solidFill>
                  <a:srgbClr val="F8ED43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28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292493" y="2852837"/>
            <a:ext cx="337811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fields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189" y="3300512"/>
            <a:ext cx="721342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Campaign response, demographics, household, product spending, channels, and web activity.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189" y="4187766"/>
            <a:ext cx="7213420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Who responds, what drives spending, and who is most valuable?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189" y="4580632"/>
            <a:ext cx="721342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Supports campaign targeting, segmentation, product focus, channel strategy, and engagement.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189" y="5307866"/>
            <a:ext cx="72134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BDB8D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Excel → Python (Pandas, NumPy) → SQL/PostgreSQL → three-page Power BI dashboard. Historical associations, not proof of cause.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7797" y="0"/>
            <a:ext cx="4063898" cy="6858000"/>
          </a:xfrm>
          <a:prstGeom prst="rect">
            <a:avLst/>
          </a:prstGeom>
          <a:solidFill>
            <a:srgbClr val="40456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2589" y="304800"/>
            <a:ext cx="3454314" cy="6248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057548" y="1958280"/>
            <a:ext cx="12700" cy="1163638"/>
          </a:xfrm>
          <a:prstGeom prst="rect">
            <a:avLst/>
          </a:prstGeom>
          <a:solidFill>
            <a:srgbClr val="40456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8258"/>
            <a:ext cx="11734506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C7D14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BUSINESS QUESTIONS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29555"/>
            <a:ext cx="1127731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15" kern="100" dirty="0">
                <a:solidFill>
                  <a:srgbClr val="F8ED43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Sixteen business questions drive the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189" y="1291530"/>
            <a:ext cx="5410065" cy="38100"/>
          </a:xfrm>
          <a:prstGeom prst="rect">
            <a:avLst/>
          </a:prstGeom>
          <a:solidFill>
            <a:srgbClr val="F8ED43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1580455"/>
            <a:ext cx="495287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Campaigns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783" y="2024955"/>
            <a:ext cx="4952876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Which campaign had the highest acceptance?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 campaigns drive extra purchases?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Does previous engagement predict response?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24442" y="1291530"/>
            <a:ext cx="5410065" cy="38100"/>
          </a:xfrm>
          <a:prstGeom prst="rect">
            <a:avLst/>
          </a:prstGeom>
          <a:solidFill>
            <a:srgbClr val="F8ED43"/>
          </a:solidFill>
          <a:ln/>
        </p:spPr>
      </p:sp>
      <p:sp>
        <p:nvSpPr>
          <p:cNvPr id="8" name="Text 6"/>
          <p:cNvSpPr/>
          <p:nvPr/>
        </p:nvSpPr>
        <p:spPr>
          <a:xfrm>
            <a:off x="6553036" y="1580455"/>
            <a:ext cx="495287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Customers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53036" y="2024955"/>
            <a:ext cx="4952876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Which characteristics and segments respond?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Who is most valuable?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 tenure, family size, and newer cohorts differ?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189" y="4074716"/>
            <a:ext cx="5410065" cy="38100"/>
          </a:xfrm>
          <a:prstGeom prst="rect">
            <a:avLst/>
          </a:prstGeom>
          <a:solidFill>
            <a:srgbClr val="F8ED43"/>
          </a:solidFill>
          <a:ln/>
        </p:spPr>
      </p:sp>
      <p:sp>
        <p:nvSpPr>
          <p:cNvPr id="11" name="Text 9"/>
          <p:cNvSpPr/>
          <p:nvPr/>
        </p:nvSpPr>
        <p:spPr>
          <a:xfrm>
            <a:off x="685783" y="4363641"/>
            <a:ext cx="495287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Products and channels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5783" y="4808141"/>
            <a:ext cx="4952876" cy="1247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Which products earn most spend?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Which channels perform best?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drives online purchasing?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How does web conversion vary by segment?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24442" y="4074716"/>
            <a:ext cx="5410065" cy="38100"/>
          </a:xfrm>
          <a:prstGeom prst="rect">
            <a:avLst/>
          </a:prstGeom>
          <a:solidFill>
            <a:srgbClr val="F8ED43"/>
          </a:solidFill>
          <a:ln/>
        </p:spPr>
      </p:sp>
      <p:sp>
        <p:nvSpPr>
          <p:cNvPr id="14" name="Text 12"/>
          <p:cNvSpPr/>
          <p:nvPr/>
        </p:nvSpPr>
        <p:spPr>
          <a:xfrm>
            <a:off x="6553036" y="4363641"/>
            <a:ext cx="495287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Offers and markets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53036" y="4808141"/>
            <a:ext cx="4952876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Is discount buying an opportunity or a dependency?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Which countries engage most?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should we target next?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8258"/>
            <a:ext cx="11734506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C7D14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DATA 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29555"/>
            <a:ext cx="1127731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15" kern="100" dirty="0">
                <a:solidFill>
                  <a:srgbClr val="F8ED43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The dataset, its quality, and the toolset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189" y="1313755"/>
            <a:ext cx="541006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2,240 rows · 28 columns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1758255"/>
          <a:ext cx="5410065" cy="914400"/>
        </p:xfrm>
        <a:graphic>
          <a:graphicData uri="http://schemas.openxmlformats.org/drawingml/2006/table">
            <a:tbl>
              <a:tblPr/>
              <a:tblGrid>
                <a:gridCol w="2193176"/>
                <a:gridCol w="2607205"/>
                <a:gridCol w="304792"/>
                <a:gridCol w="304892"/>
              </a:tblGrid>
              <a:tr h="4413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Profile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8E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E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E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Observed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8E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E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E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8E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E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E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8E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E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E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43"/>
                    </a:solidFill>
                  </a:tcPr>
                </a:tc>
              </a:tr>
              <a:tr h="4413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Duplicates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0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3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Missing incomes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24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3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Education levels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5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3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Marital statuses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8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3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Countries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8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6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Enrollment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2012 to 2014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189" y="4952782"/>
            <a:ext cx="5410065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Demographics, household, recency, six product spend columns, deals, web/catalog/store purchases, five campaign flags, response, complaints, and country.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324442" y="1313755"/>
            <a:ext cx="541006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Quality treatment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324442" y="1758255"/>
            <a:ext cx="5410065" cy="1247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Income filled with median 51,381.50.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Dates parsed as DD-MM-YYYY.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11 web conversion nulls where monthly visits are zero.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3F1F8"/>
                </a:solidFill>
                <a:highlight>
                  <a:srgbClr val="4045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year_birth</a:t>
            </a:r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replaced by age.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324442" y="3199705"/>
            <a:ext cx="541006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Toolset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324442" y="3651349"/>
            <a:ext cx="541006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Excel for first look; Python with Pandas and NumPy for cleaning; PostgreSQL for analysis; Power BI for dashboards.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324442" y="4307780"/>
            <a:ext cx="5410065" cy="715566"/>
          </a:xfrm>
          <a:prstGeom prst="roundRect">
            <a:avLst>
              <a:gd name="adj" fmla="val 3993"/>
            </a:avLst>
          </a:prstGeom>
          <a:solidFill>
            <a:srgbClr val="7B7405"/>
          </a:solidFill>
          <a:ln/>
        </p:spPr>
      </p:sp>
      <p:sp>
        <p:nvSpPr>
          <p:cNvPr id="12" name="Text 9"/>
          <p:cNvSpPr/>
          <p:nvPr/>
        </p:nvSpPr>
        <p:spPr>
          <a:xfrm>
            <a:off x="6514937" y="4552732"/>
            <a:ext cx="5219569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Excel workbook was supplied, so Excel techniques are not verified.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8258"/>
            <a:ext cx="11734506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C7D14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END-TO-END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29555"/>
            <a:ext cx="1127731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15" kern="100" dirty="0">
                <a:solidFill>
                  <a:srgbClr val="F8ED43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From raw CSV to analysis-ready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189" y="1291530"/>
            <a:ext cx="330192" cy="330200"/>
          </a:xfrm>
          <a:prstGeom prst="ellipse">
            <a:avLst/>
          </a:prstGeom>
          <a:solidFill>
            <a:srgbClr val="F8ED43"/>
          </a:solidFill>
          <a:ln/>
        </p:spPr>
      </p:sp>
      <p:sp>
        <p:nvSpPr>
          <p:cNvPr id="5" name="Text 3"/>
          <p:cNvSpPr/>
          <p:nvPr/>
        </p:nvSpPr>
        <p:spPr>
          <a:xfrm>
            <a:off x="593016" y="1374080"/>
            <a:ext cx="66812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189" y="1697930"/>
            <a:ext cx="2590735" cy="19050"/>
          </a:xfrm>
          <a:prstGeom prst="rect">
            <a:avLst/>
          </a:prstGeom>
          <a:solidFill>
            <a:srgbClr val="F8ED43"/>
          </a:solidFill>
          <a:ln/>
        </p:spPr>
      </p:sp>
      <p:sp>
        <p:nvSpPr>
          <p:cNvPr id="7" name="Text 5"/>
          <p:cNvSpPr/>
          <p:nvPr/>
        </p:nvSpPr>
        <p:spPr>
          <a:xfrm>
            <a:off x="457189" y="1808103"/>
            <a:ext cx="2590735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Raw dataset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189" y="2200652"/>
            <a:ext cx="2590735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Customer records and the structure later checked in Python.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52716" y="1291530"/>
            <a:ext cx="330192" cy="330200"/>
          </a:xfrm>
          <a:prstGeom prst="ellipse">
            <a:avLst/>
          </a:prstGeom>
          <a:solidFill>
            <a:srgbClr val="F8ED43"/>
          </a:solidFill>
          <a:ln/>
        </p:spPr>
      </p:sp>
      <p:sp>
        <p:nvSpPr>
          <p:cNvPr id="10" name="Text 8"/>
          <p:cNvSpPr/>
          <p:nvPr/>
        </p:nvSpPr>
        <p:spPr>
          <a:xfrm>
            <a:off x="3471577" y="1374080"/>
            <a:ext cx="70205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52716" y="1697930"/>
            <a:ext cx="2590735" cy="19050"/>
          </a:xfrm>
          <a:prstGeom prst="rect">
            <a:avLst/>
          </a:prstGeom>
          <a:solidFill>
            <a:srgbClr val="F8ED43"/>
          </a:solidFill>
          <a:ln/>
        </p:spPr>
      </p:sp>
      <p:sp>
        <p:nvSpPr>
          <p:cNvPr id="12" name="Text 10"/>
          <p:cNvSpPr/>
          <p:nvPr/>
        </p:nvSpPr>
        <p:spPr>
          <a:xfrm>
            <a:off x="3352716" y="1808103"/>
            <a:ext cx="2590735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Excel exploration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52716" y="2200652"/>
            <a:ext cx="2590735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First-stage exploration of the raw data.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48244" y="1291530"/>
            <a:ext cx="330192" cy="330200"/>
          </a:xfrm>
          <a:prstGeom prst="ellipse">
            <a:avLst/>
          </a:prstGeom>
          <a:solidFill>
            <a:srgbClr val="F8ED43"/>
          </a:solidFill>
          <a:ln/>
        </p:spPr>
      </p:sp>
      <p:sp>
        <p:nvSpPr>
          <p:cNvPr id="15" name="Text 13"/>
          <p:cNvSpPr/>
          <p:nvPr/>
        </p:nvSpPr>
        <p:spPr>
          <a:xfrm>
            <a:off x="6368692" y="1374080"/>
            <a:ext cx="69878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48244" y="1697930"/>
            <a:ext cx="2590735" cy="19050"/>
          </a:xfrm>
          <a:prstGeom prst="rect">
            <a:avLst/>
          </a:prstGeom>
          <a:solidFill>
            <a:srgbClr val="F8ED43"/>
          </a:solidFill>
          <a:ln/>
        </p:spPr>
      </p:sp>
      <p:sp>
        <p:nvSpPr>
          <p:cNvPr id="17" name="Text 15"/>
          <p:cNvSpPr/>
          <p:nvPr/>
        </p:nvSpPr>
        <p:spPr>
          <a:xfrm>
            <a:off x="6248244" y="1808103"/>
            <a:ext cx="2590735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Python cleaning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48244" y="2200652"/>
            <a:ext cx="2590735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Standardized names, median income fill, date parsing; checks for nulls, duplicates, types, and category counts.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3771" y="1291530"/>
            <a:ext cx="330192" cy="330200"/>
          </a:xfrm>
          <a:prstGeom prst="ellipse">
            <a:avLst/>
          </a:prstGeom>
          <a:solidFill>
            <a:srgbClr val="F8ED43"/>
          </a:solidFill>
          <a:ln/>
        </p:spPr>
      </p:sp>
      <p:sp>
        <p:nvSpPr>
          <p:cNvPr id="20" name="Text 18"/>
          <p:cNvSpPr/>
          <p:nvPr/>
        </p:nvSpPr>
        <p:spPr>
          <a:xfrm>
            <a:off x="9258862" y="1374080"/>
            <a:ext cx="709496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3771" y="1697930"/>
            <a:ext cx="2590735" cy="19050"/>
          </a:xfrm>
          <a:prstGeom prst="rect">
            <a:avLst/>
          </a:prstGeom>
          <a:solidFill>
            <a:srgbClr val="F8ED43"/>
          </a:solidFill>
          <a:ln/>
        </p:spPr>
      </p:sp>
      <p:sp>
        <p:nvSpPr>
          <p:cNvPr id="22" name="Text 20"/>
          <p:cNvSpPr/>
          <p:nvPr/>
        </p:nvSpPr>
        <p:spPr>
          <a:xfrm>
            <a:off x="9143771" y="1808103"/>
            <a:ext cx="2590735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3771" y="2200652"/>
            <a:ext cx="2590735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Age, customer year/month, total spend/purchases, children plus teens, campaigns accepted, web conversion rate, web visit flag.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189" y="3810000"/>
            <a:ext cx="330192" cy="330200"/>
          </a:xfrm>
          <a:prstGeom prst="ellipse">
            <a:avLst/>
          </a:prstGeom>
          <a:solidFill>
            <a:srgbClr val="F8ED43"/>
          </a:solidFill>
          <a:ln/>
        </p:spPr>
      </p:sp>
      <p:sp>
        <p:nvSpPr>
          <p:cNvPr id="25" name="Text 23"/>
          <p:cNvSpPr/>
          <p:nvPr/>
        </p:nvSpPr>
        <p:spPr>
          <a:xfrm>
            <a:off x="577736" y="3892550"/>
            <a:ext cx="69858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189" y="4216400"/>
            <a:ext cx="3555812" cy="19050"/>
          </a:xfrm>
          <a:prstGeom prst="rect">
            <a:avLst/>
          </a:prstGeom>
          <a:solidFill>
            <a:srgbClr val="F8ED43"/>
          </a:solidFill>
          <a:ln/>
        </p:spPr>
      </p:sp>
      <p:sp>
        <p:nvSpPr>
          <p:cNvPr id="27" name="Text 25"/>
          <p:cNvSpPr/>
          <p:nvPr/>
        </p:nvSpPr>
        <p:spPr>
          <a:xfrm>
            <a:off x="457189" y="4326573"/>
            <a:ext cx="3555911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SQL analysis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189" y="4719439"/>
            <a:ext cx="355591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36 columns loaded into PostgreSQL table 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highlight>
                  <a:srgbClr val="4045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marketing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317892" y="3810000"/>
            <a:ext cx="330192" cy="330200"/>
          </a:xfrm>
          <a:prstGeom prst="ellipse">
            <a:avLst/>
          </a:prstGeom>
          <a:solidFill>
            <a:srgbClr val="F8ED43"/>
          </a:solidFill>
          <a:ln/>
        </p:spPr>
      </p:sp>
      <p:sp>
        <p:nvSpPr>
          <p:cNvPr id="30" name="Text 28"/>
          <p:cNvSpPr/>
          <p:nvPr/>
        </p:nvSpPr>
        <p:spPr>
          <a:xfrm>
            <a:off x="4438638" y="3892550"/>
            <a:ext cx="69828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317892" y="4216400"/>
            <a:ext cx="3555812" cy="19050"/>
          </a:xfrm>
          <a:prstGeom prst="rect">
            <a:avLst/>
          </a:prstGeom>
          <a:solidFill>
            <a:srgbClr val="F8ED43"/>
          </a:solidFill>
          <a:ln/>
        </p:spPr>
      </p:sp>
      <p:sp>
        <p:nvSpPr>
          <p:cNvPr id="32" name="Text 30"/>
          <p:cNvSpPr/>
          <p:nvPr/>
        </p:nvSpPr>
        <p:spPr>
          <a:xfrm>
            <a:off x="4317892" y="4326573"/>
            <a:ext cx="3555911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Power BI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317892" y="4719439"/>
            <a:ext cx="355591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three-page dashboard presents the analysis.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178595" y="3810000"/>
            <a:ext cx="330192" cy="330200"/>
          </a:xfrm>
          <a:prstGeom prst="ellipse">
            <a:avLst/>
          </a:prstGeom>
          <a:solidFill>
            <a:srgbClr val="F8ED43"/>
          </a:solidFill>
          <a:ln/>
        </p:spPr>
      </p:sp>
      <p:sp>
        <p:nvSpPr>
          <p:cNvPr id="35" name="Text 33"/>
          <p:cNvSpPr/>
          <p:nvPr/>
        </p:nvSpPr>
        <p:spPr>
          <a:xfrm>
            <a:off x="8302715" y="3892550"/>
            <a:ext cx="691537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7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178595" y="4216400"/>
            <a:ext cx="3555812" cy="19050"/>
          </a:xfrm>
          <a:prstGeom prst="rect">
            <a:avLst/>
          </a:prstGeom>
          <a:solidFill>
            <a:srgbClr val="F8ED43"/>
          </a:solidFill>
          <a:ln/>
        </p:spPr>
      </p:sp>
      <p:sp>
        <p:nvSpPr>
          <p:cNvPr id="37" name="Text 35"/>
          <p:cNvSpPr/>
          <p:nvPr/>
        </p:nvSpPr>
        <p:spPr>
          <a:xfrm>
            <a:off x="8178595" y="4326573"/>
            <a:ext cx="3555911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Insights and recommendations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178595" y="4719439"/>
            <a:ext cx="355591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Business questions become targeting and planning decisions.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57189" y="6205597"/>
            <a:ext cx="11734506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BDB8D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Credentials redacted in the appendix.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382058"/>
            <a:ext cx="11734506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C7D14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SQL ANALYSIS · PART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653355"/>
            <a:ext cx="1127731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15" kern="100" dirty="0">
                <a:solidFill>
                  <a:srgbClr val="F8ED43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Campaigns, responders, products, channels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189" y="1230253"/>
            <a:ext cx="5410065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Accepted customers by campaign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1590576"/>
            <a:ext cx="5333867" cy="2857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189" y="4534753"/>
            <a:ext cx="541006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BDB8D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latest campaign roughly doubled the best earlier result.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189" y="4916329"/>
            <a:ext cx="5410065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Education response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189" y="5308878"/>
            <a:ext cx="5410065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PhD 20.78%; Master 15.41%; Graduation 13.49%; 2n Cycle 10.84%; Basic 3.70%. Tiny marital groups are unreliable.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24442" y="1230253"/>
            <a:ext cx="5410065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Responders vs non-responders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4442" y="1615976"/>
          <a:ext cx="5410065" cy="914400"/>
        </p:xfrm>
        <a:graphic>
          <a:graphicData uri="http://schemas.openxmlformats.org/drawingml/2006/table">
            <a:tbl>
              <a:tblPr/>
              <a:tblGrid>
                <a:gridCol w="1839370"/>
                <a:gridCol w="1785298"/>
                <a:gridCol w="1785397"/>
              </a:tblGrid>
              <a:tr h="4413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Metric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8E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E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E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Responders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8E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E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E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Non-responders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8E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E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E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43"/>
                    </a:solidFill>
                  </a:tcPr>
                </a:tc>
              </a:tr>
              <a:tr h="4413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Income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60,183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50,846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3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Spend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987.39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538.93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3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Purchases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15.37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12.04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6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Age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43.3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44.4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324442" y="3996273"/>
            <a:ext cx="5410065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Product spend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324442" y="4388822"/>
            <a:ext cx="5410065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Wines 680,816; meat 373,968; gold 98,609; fish 84,057; sweets 60,621; fruits 58,917.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324442" y="5047000"/>
            <a:ext cx="5410065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Channel purchases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324442" y="5439549"/>
            <a:ext cx="5410065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Store 12,970; web 9,150; catalog 5,963.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324442" y="5793641"/>
            <a:ext cx="541006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BDB8D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Responders buy more; ages are similar. Causation is not shown.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382058"/>
            <a:ext cx="11734506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C7D14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SQL ANALYSIS · PART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653355"/>
            <a:ext cx="1127731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15" kern="100" dirty="0">
                <a:solidFill>
                  <a:srgbClr val="F8ED43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Value, offers, markets, tenure, family, engagement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189" y="1230253"/>
            <a:ext cx="5410065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Latest response by prior acceptances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1590576"/>
            <a:ext cx="5333867" cy="2222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189" y="3899753"/>
            <a:ext cx="541006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BDB8D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Response climbs steeply with each prior acceptance.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189" y="4281329"/>
            <a:ext cx="5410065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Offers and targeting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189" y="4673878"/>
            <a:ext cx="5410065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Deals have a mixed relationship with spend, not clear discount dependency. Top targeting combinations are very small; use broader segments.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189" y="5332055"/>
            <a:ext cx="5410065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Markets and web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189" y="5724604"/>
            <a:ext cx="5410065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Spain: 1,095 customers, 16.07% response. India lowest: 8.78%. Mexico: 66.67% on only 3 customers. Web conversion: responders 1.39 vs non-responders 1.04, a project-defined ratio.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24442" y="1230253"/>
            <a:ext cx="5410065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Customer value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324442" y="1622802"/>
            <a:ext cx="5410065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High: 48 customers (spend 2,169.81); Medium: 552 (1,395.60); Low: 1,640 (294.19).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24442" y="2216210"/>
            <a:ext cx="541006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BDB8D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Thresholds are business rules.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24442" y="2597785"/>
            <a:ext cx="5410065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Enrollment cohort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324442" y="2990334"/>
            <a:ext cx="5410065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2012: response 26.72%, spend 745; 2013: 12.95%, 602; 2014: 8.62%, 491.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24442" y="3409196"/>
            <a:ext cx="5410065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Family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24442" y="3801745"/>
            <a:ext cx="5410065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children: spend 1,106, response 26.49%. One child: 473; two: 246; three: 275.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8258"/>
            <a:ext cx="11734506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C7D14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POWER BI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29555"/>
            <a:ext cx="1127731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15" kern="100" dirty="0">
                <a:solidFill>
                  <a:srgbClr val="F8ED43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A three-page dashboard turns the SQL into insight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189" y="1320105"/>
            <a:ext cx="202679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60" kern="100" dirty="0">
                <a:solidFill>
                  <a:srgbClr val="F8ED43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2,240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189" y="1888907"/>
            <a:ext cx="2255384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41167" y="1320105"/>
            <a:ext cx="236214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60" kern="100" dirty="0">
                <a:solidFill>
                  <a:srgbClr val="F8ED43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1,356,988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941167" y="1888907"/>
            <a:ext cx="2590735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total spending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497" y="1320105"/>
            <a:ext cx="1610379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60" kern="100" dirty="0">
                <a:solidFill>
                  <a:srgbClr val="F8ED43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28,083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760497" y="1888907"/>
            <a:ext cx="1838974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purchases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28064" y="1320105"/>
            <a:ext cx="161028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60" kern="100" dirty="0">
                <a:solidFill>
                  <a:srgbClr val="F8ED43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14.91%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828064" y="1888907"/>
            <a:ext cx="1838874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campaign response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95533" y="1320105"/>
            <a:ext cx="1838974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60" kern="100" dirty="0">
                <a:solidFill>
                  <a:srgbClr val="F8ED43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76.83%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895533" y="1888907"/>
            <a:ext cx="1838974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web conversion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189" y="2303324"/>
            <a:ext cx="11734506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BDB8D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Web conversion is aggregate web purchases over visits.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189" y="2669977"/>
            <a:ext cx="3555911" cy="3006923"/>
          </a:xfrm>
          <a:prstGeom prst="roundRect">
            <a:avLst>
              <a:gd name="adj" fmla="val 950"/>
            </a:avLst>
          </a:prstGeom>
          <a:noFill/>
          <a:ln w="25399">
            <a:solidFill>
              <a:srgbClr val="948D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1182" y="2946201"/>
            <a:ext cx="304792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Executive Overview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11182" y="3397845"/>
            <a:ext cx="3047924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Campaign bars, product columns, channel donut, response by education, country map, and five slicers.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317892" y="2669977"/>
            <a:ext cx="3555911" cy="3006923"/>
          </a:xfrm>
          <a:prstGeom prst="roundRect">
            <a:avLst>
              <a:gd name="adj" fmla="val 950"/>
            </a:avLst>
          </a:prstGeom>
          <a:noFill/>
          <a:ln w="25399">
            <a:solidFill>
              <a:srgbClr val="948D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1886" y="2946201"/>
            <a:ext cx="3047924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Customer and Campaign Analysis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1886" y="3728045"/>
            <a:ext cx="3047924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Response by age group; spend by income and children; prior engagement vs response; spend and response by customer year.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178595" y="2669977"/>
            <a:ext cx="3555911" cy="3006923"/>
          </a:xfrm>
          <a:prstGeom prst="roundRect">
            <a:avLst>
              <a:gd name="adj" fmla="val 950"/>
            </a:avLst>
          </a:prstGeom>
          <a:noFill/>
          <a:ln w="25399">
            <a:solidFill>
              <a:srgbClr val="948D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32589" y="2946201"/>
            <a:ext cx="3047924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Product and Channel Analysis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432589" y="3728045"/>
            <a:ext cx="3047924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Product spend; web visits vs purchases; deals vs purchases; web purchases by response; value segments.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189" y="5855494"/>
            <a:ext cx="1127731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Latest campaign is the benchmark; Campaign 2 needs investigation. Wines and stores dominate. Prior engagement, cohort, and household are strong segmentation signals.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706223" y="1291530"/>
            <a:ext cx="12700" cy="829866"/>
          </a:xfrm>
          <a:prstGeom prst="rect">
            <a:avLst/>
          </a:prstGeom>
          <a:solidFill>
            <a:srgbClr val="40456A"/>
          </a:solidFill>
          <a:ln/>
        </p:spPr>
      </p:sp>
      <p:sp>
        <p:nvSpPr>
          <p:cNvPr id="26" name="Shape 24"/>
          <p:cNvSpPr/>
          <p:nvPr/>
        </p:nvSpPr>
        <p:spPr>
          <a:xfrm>
            <a:off x="5525552" y="1291530"/>
            <a:ext cx="12700" cy="829866"/>
          </a:xfrm>
          <a:prstGeom prst="rect">
            <a:avLst/>
          </a:prstGeom>
          <a:solidFill>
            <a:srgbClr val="40456A"/>
          </a:solidFill>
          <a:ln/>
        </p:spPr>
      </p:sp>
      <p:sp>
        <p:nvSpPr>
          <p:cNvPr id="27" name="Shape 25"/>
          <p:cNvSpPr/>
          <p:nvPr/>
        </p:nvSpPr>
        <p:spPr>
          <a:xfrm>
            <a:off x="7593120" y="1291530"/>
            <a:ext cx="12700" cy="829866"/>
          </a:xfrm>
          <a:prstGeom prst="rect">
            <a:avLst/>
          </a:prstGeom>
          <a:solidFill>
            <a:srgbClr val="40456A"/>
          </a:solidFill>
          <a:ln/>
        </p:spPr>
      </p:sp>
      <p:sp>
        <p:nvSpPr>
          <p:cNvPr id="28" name="Shape 26"/>
          <p:cNvSpPr/>
          <p:nvPr/>
        </p:nvSpPr>
        <p:spPr>
          <a:xfrm>
            <a:off x="9660589" y="1291530"/>
            <a:ext cx="12700" cy="829866"/>
          </a:xfrm>
          <a:prstGeom prst="rect">
            <a:avLst/>
          </a:prstGeom>
          <a:solidFill>
            <a:srgbClr val="4045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8258"/>
            <a:ext cx="11734506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C7D14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FINDINGS TO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29555"/>
            <a:ext cx="1127731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15" kern="100" dirty="0">
                <a:solidFill>
                  <a:srgbClr val="F8ED43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Key findings and what we recommend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189" y="1298674"/>
            <a:ext cx="1127731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14.91% overall response; latest campaign 334. Responders spend more; prior acceptance strongly predicts response; wines lead spend, stores lead volume; 2012 outperforms 2014.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2015430"/>
          <a:ext cx="11277318" cy="914400"/>
        </p:xfrm>
        <a:graphic>
          <a:graphicData uri="http://schemas.openxmlformats.org/drawingml/2006/table">
            <a:tbl>
              <a:tblPr/>
              <a:tblGrid>
                <a:gridCol w="3608694"/>
                <a:gridCol w="7668624"/>
              </a:tblGrid>
              <a:tr h="6445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Planning focus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177796" marB="177796" anchor="ctr">
                    <a:lnL w="12700" cap="flat" cmpd="sng" algn="ctr">
                      <a:solidFill>
                        <a:srgbClr val="F8E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E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E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Recommendation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177796" marB="177796" anchor="ctr">
                    <a:lnL w="12700" cap="flat" cmpd="sng" algn="ctr">
                      <a:solidFill>
                        <a:srgbClr val="F8E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E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E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43"/>
                    </a:solidFill>
                  </a:tcPr>
                </a:tc>
              </a:tr>
              <a:tr h="6445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Previous engagement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177796" marB="177796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Prioritize previously engaged customers: response rises from 8.22% to 90.91%.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177796" marB="177796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45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High Value segment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177796" marB="177796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Protect and grow it with differentiated retention or loyalty treatment.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177796" marB="177796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45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Products and channels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177796" marB="177796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Pair wine and meat promotions with store activity; monitor web separately.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177796" marB="177796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45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Enrollment cohort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177796" marB="177796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Use cohort in planning and test onboarding for newer customers.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177796" marB="177796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80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Markets and discounts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177796" marB="177796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Weigh country response by customer count. Test discounts against value rather than raising them uniformly.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177796" marB="177796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8258"/>
            <a:ext cx="11734506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C7D14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INTERPRETATION AND CAPABILITY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29555"/>
            <a:ext cx="1127731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15" kern="100" dirty="0">
                <a:solidFill>
                  <a:srgbClr val="F8ED43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Limitations and the skills this project demonstrates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783" y="1542355"/>
            <a:ext cx="518147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Limits on interpretation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783" y="1986855"/>
            <a:ext cx="5181470" cy="1768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Median-filled income reduces variability; web conversion mixes monthly visits with longer-period purchases; small groups give unstable rates.</a:t>
            </a:r>
            <a:endParaRPr lang="en-US" sz="15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Value thresholds are rule-based; findings are observational; Excel work and SQL result grids were not supplied; data covers 2012 to 2014 only.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24442" y="1542355"/>
            <a:ext cx="518147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Demonstrated skills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24442" y="1986855"/>
            <a:ext cx="518147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500" b="1" dirty="0">
                <a:solidFill>
                  <a:srgbClr val="F3F1F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exploration:</a:t>
            </a:r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Python, Pandas, NumPy</a:t>
            </a:r>
            <a:endParaRPr lang="en-US" sz="1500" dirty="0"/>
          </a:p>
          <a:p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500" b="1" dirty="0">
                <a:solidFill>
                  <a:srgbClr val="F3F1F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SQL:</a:t>
            </a:r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GROUP BY, CASE, UNION ALL</a:t>
            </a:r>
            <a:endParaRPr lang="en-US" sz="1500" dirty="0"/>
          </a:p>
          <a:p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500" b="1" dirty="0">
                <a:solidFill>
                  <a:srgbClr val="F3F1F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Power BI:</a:t>
            </a:r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KPIs, maps, scatter, combo charts, slicers</a:t>
            </a:r>
            <a:endParaRPr lang="en-US" sz="15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F3F1F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Analytics: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segmentation, cohort and value analysis, storytelling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86323" y="1291530"/>
            <a:ext cx="19050" cy="2692400"/>
          </a:xfrm>
          <a:prstGeom prst="rect">
            <a:avLst/>
          </a:prstGeom>
          <a:solidFill>
            <a:srgbClr val="40456A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6858000"/>
          </a:xfrm>
          <a:prstGeom prst="rect">
            <a:avLst/>
          </a:prstGeom>
          <a:solidFill>
            <a:srgbClr val="40456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92" y="304800"/>
            <a:ext cx="3454314" cy="6248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21087" y="458258"/>
            <a:ext cx="7670608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C7D14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21087" y="748605"/>
            <a:ext cx="721342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20" kern="100" dirty="0">
                <a:solidFill>
                  <a:srgbClr val="F8ED43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From raw customer data</a:t>
            </a:r>
            <a:endParaRPr lang="en-US" sz="40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000" spc="-20" kern="100" dirty="0">
                <a:solidFill>
                  <a:srgbClr val="F8ED43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to decisions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21087" y="1961455"/>
            <a:ext cx="721342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The full analytical journey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21087" y="2413099"/>
            <a:ext cx="721342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Inspect in Excel, clean with Python, Pandas and NumPy, validate, load to PostgreSQL, answer business questions in SQL, then present in Power BI.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21087" y="3177480"/>
            <a:ext cx="2380397" cy="38100"/>
          </a:xfrm>
          <a:prstGeom prst="roundRect">
            <a:avLst>
              <a:gd name="adj" fmla="val 49999"/>
            </a:avLst>
          </a:prstGeom>
          <a:solidFill>
            <a:srgbClr val="F8ED43"/>
          </a:solidFill>
          <a:ln/>
        </p:spPr>
      </p:sp>
      <p:sp>
        <p:nvSpPr>
          <p:cNvPr id="9" name="Text 6"/>
          <p:cNvSpPr/>
          <p:nvPr/>
        </p:nvSpPr>
        <p:spPr>
          <a:xfrm>
            <a:off x="4521087" y="3612455"/>
            <a:ext cx="721342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Strongest signals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521087" y="4064099"/>
            <a:ext cx="721342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Responders spend more; prior acceptance predicts response; wines and stores lead; cohorts and households differ.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21087" y="4958655"/>
            <a:ext cx="721342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 structured analytical product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521087" y="5410299"/>
            <a:ext cx="721342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Insights and recommendations support campaign targeting, segmentation, and product and channel planning.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521087" y="6205597"/>
            <a:ext cx="767060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BDB8D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Appendix: data loaded with a SQLAlchemy engine into table </a:t>
            </a:r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F3F1F8"/>
                </a:solidFill>
                <a:highlight>
                  <a:srgbClr val="4045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marketing</a:t>
            </a:r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BDB8D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via </a:t>
            </a:r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F3F1F8"/>
                </a:solidFill>
                <a:highlight>
                  <a:srgbClr val="4045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to_sql</a:t>
            </a:r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BDB8D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; credentials redacted.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2026-10-07T16:03:46Z</dcterms:created>
  <dcterms:modified xsi:type="dcterms:W3CDTF">2026-10-07T16:03:46Z</dcterms:modified>
</cp:coreProperties>
</file>